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225" y="2727960"/>
            <a:ext cx="1381125" cy="904875"/>
          </a:xfrm>
          <a:prstGeom prst="rect">
            <a:avLst/>
          </a:prstGeom>
          <a:solidFill>
            <a:srgbClr val="38BDF8">
              <a:alpha val="15000"/>
            </a:srgbClr>
          </a:solidFill>
          <a:ln w="22860">
            <a:solidFill>
              <a:srgbClr val="38BDF8"/>
            </a:solidFill>
          </a:ln>
          <a:effectLst>
            <a:outerShdw sx="100000" sy="100000" kx="0" ky="0" algn="bl" rotWithShape="0" blurRad="114300" dist="5715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19350" y="1680210"/>
            <a:ext cx="1524000" cy="809625"/>
          </a:xfrm>
          <a:prstGeom prst="rect">
            <a:avLst/>
          </a:prstGeom>
          <a:solidFill>
            <a:srgbClr val="A855F7">
              <a:alpha val="15000"/>
            </a:srgbClr>
          </a:solidFill>
          <a:ln w="22860">
            <a:solidFill>
              <a:srgbClr val="A855F7"/>
            </a:solidFill>
          </a:ln>
          <a:effectLst>
            <a:outerShdw sx="100000" sy="100000" kx="0" ky="0" algn="bl" rotWithShape="0" blurRad="114300" dist="5715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19350" y="2775585"/>
            <a:ext cx="1524000" cy="857250"/>
          </a:xfrm>
          <a:prstGeom prst="rect">
            <a:avLst/>
          </a:prstGeom>
          <a:solidFill>
            <a:srgbClr val="EAB308">
              <a:alpha val="15000"/>
            </a:srgbClr>
          </a:solidFill>
          <a:ln w="22860">
            <a:solidFill>
              <a:srgbClr val="EAB308"/>
            </a:solidFill>
          </a:ln>
          <a:effectLst>
            <a:outerShdw sx="100000" sy="100000" kx="0" ky="0" algn="bl" rotWithShape="0" blurRad="114300" dist="5715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19350" y="3918585"/>
            <a:ext cx="1524000" cy="857250"/>
          </a:xfrm>
          <a:prstGeom prst="rect">
            <a:avLst/>
          </a:prstGeom>
          <a:solidFill>
            <a:srgbClr val="EF4444">
              <a:alpha val="15000"/>
            </a:srgbClr>
          </a:solidFill>
          <a:ln w="22860">
            <a:solidFill>
              <a:srgbClr val="EF4444"/>
            </a:solidFill>
          </a:ln>
          <a:effectLst>
            <a:outerShdw sx="100000" sy="100000" kx="0" ky="0" algn="bl" rotWithShape="0" blurRad="114300" dist="5715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7225" y="4109085"/>
            <a:ext cx="1381125" cy="714375"/>
          </a:xfrm>
          <a:prstGeom prst="rect">
            <a:avLst/>
          </a:prstGeom>
          <a:solidFill>
            <a:srgbClr val="14B8A6">
              <a:alpha val="15000"/>
            </a:srgbClr>
          </a:solidFill>
          <a:ln w="22860">
            <a:solidFill>
              <a:srgbClr val="14B8A6"/>
            </a:solidFill>
          </a:ln>
          <a:effectLst>
            <a:outerShdw sx="100000" sy="100000" kx="0" ky="0" algn="bl" rotWithShape="0" blurRad="114300" dist="5715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71975" y="1680210"/>
            <a:ext cx="3429000" cy="3095625"/>
          </a:xfrm>
          <a:prstGeom prst="rect">
            <a:avLst/>
          </a:prstGeom>
          <a:solidFill>
            <a:srgbClr val="22C55E">
              <a:alpha val="8000"/>
            </a:srgbClr>
          </a:solidFill>
          <a:ln w="22860">
            <a:solidFill>
              <a:srgbClr val="22C55E"/>
            </a:solidFill>
          </a:ln>
          <a:effectLst>
            <a:outerShdw sx="100000" sy="100000" kx="0" ky="0" algn="bl" rotWithShape="0" blurRad="114300" dist="5715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47235" y="2058988"/>
            <a:ext cx="3078480" cy="481647"/>
          </a:xfrm>
          <a:prstGeom prst="rect">
            <a:avLst/>
          </a:prstGeom>
          <a:solidFill>
            <a:srgbClr val="22C55E">
              <a:alpha val="20000"/>
            </a:srgbClr>
          </a:solidFill>
          <a:ln w="15240">
            <a:solidFill>
              <a:srgbClr val="22C55E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47235" y="2601595"/>
            <a:ext cx="3078480" cy="481647"/>
          </a:xfrm>
          <a:prstGeom prst="rect">
            <a:avLst/>
          </a:prstGeom>
          <a:solidFill>
            <a:srgbClr val="3B82F6">
              <a:alpha val="20000"/>
            </a:srgbClr>
          </a:solidFill>
          <a:ln w="15240">
            <a:solidFill>
              <a:srgbClr val="3B82F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47235" y="3144203"/>
            <a:ext cx="3078480" cy="481647"/>
          </a:xfrm>
          <a:prstGeom prst="rect">
            <a:avLst/>
          </a:prstGeom>
          <a:solidFill>
            <a:srgbClr val="F59E0B">
              <a:alpha val="20000"/>
            </a:srgbClr>
          </a:solidFill>
          <a:ln w="15240">
            <a:solidFill>
              <a:srgbClr val="F59E0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47235" y="3686810"/>
            <a:ext cx="3078480" cy="481647"/>
          </a:xfrm>
          <a:prstGeom prst="rect">
            <a:avLst/>
          </a:prstGeom>
          <a:solidFill>
            <a:srgbClr val="EC4899">
              <a:alpha val="20000"/>
            </a:srgbClr>
          </a:solidFill>
          <a:ln w="15240">
            <a:solidFill>
              <a:srgbClr val="EC489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47235" y="4229417"/>
            <a:ext cx="3078480" cy="481647"/>
          </a:xfrm>
          <a:prstGeom prst="rect">
            <a:avLst/>
          </a:prstGeom>
          <a:solidFill>
            <a:srgbClr val="A855F7">
              <a:alpha val="20000"/>
            </a:srgbClr>
          </a:solidFill>
          <a:ln w="15240">
            <a:solidFill>
              <a:srgbClr val="A855F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31206" y="2787015"/>
            <a:ext cx="327819" cy="205740"/>
          </a:xfrm>
          <a:prstGeom prst="rect">
            <a:avLst/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12352" y="2715895"/>
            <a:ext cx="124936" cy="124936"/>
          </a:xfrm>
          <a:prstGeom prst="rect">
            <a:avLst/>
          </a:prstGeom>
          <a:noFill/>
          <a:ln w="4572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14550" y="2804160"/>
            <a:ext cx="485457" cy="184468"/>
          </a:xfrm>
          <a:prstGeom prst="roundRect">
            <a:avLst>
              <a:gd name="adj" fmla="val 148709"/>
            </a:avLst>
          </a:prstGeom>
          <a:solidFill>
            <a:srgbClr val="0F172A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167063" y="2504122"/>
            <a:ext cx="28575" cy="666750"/>
          </a:xfrm>
          <a:prstGeom prst="rect">
            <a:avLst/>
          </a:prstGeom>
          <a:solidFill>
            <a:srgbClr val="A855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42298" y="3155632"/>
            <a:ext cx="91440" cy="91440"/>
          </a:xfrm>
          <a:prstGeom prst="rect">
            <a:avLst/>
          </a:prstGeom>
          <a:noFill/>
          <a:ln w="4572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76600" y="2585085"/>
            <a:ext cx="419259" cy="184468"/>
          </a:xfrm>
          <a:prstGeom prst="roundRect">
            <a:avLst>
              <a:gd name="adj" fmla="val 148709"/>
            </a:avLst>
          </a:prstGeom>
          <a:solidFill>
            <a:srgbClr val="0F172A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167063" y="3647122"/>
            <a:ext cx="28575" cy="266700"/>
          </a:xfrm>
          <a:prstGeom prst="rect">
            <a:avLst/>
          </a:prstGeom>
          <a:solidFill>
            <a:srgbClr val="EAB30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42298" y="3898582"/>
            <a:ext cx="91440" cy="91440"/>
          </a:xfrm>
          <a:prstGeom prst="rect">
            <a:avLst/>
          </a:prstGeom>
          <a:noFill/>
          <a:ln w="4572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76600" y="3709035"/>
            <a:ext cx="490855" cy="184468"/>
          </a:xfrm>
          <a:prstGeom prst="roundRect">
            <a:avLst>
              <a:gd name="adj" fmla="val 148709"/>
            </a:avLst>
          </a:prstGeom>
          <a:solidFill>
            <a:srgbClr val="0F172A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2881313" y="3647122"/>
            <a:ext cx="28575" cy="266700"/>
          </a:xfrm>
          <a:prstGeom prst="rect">
            <a:avLst/>
          </a:prstGeom>
          <a:solidFill>
            <a:srgbClr val="EF444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843213" y="3570922"/>
            <a:ext cx="91440" cy="91440"/>
          </a:xfrm>
          <a:prstGeom prst="rect">
            <a:avLst/>
          </a:prstGeom>
          <a:noFill/>
          <a:ln w="4572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09850" y="3709035"/>
            <a:ext cx="512921" cy="184468"/>
          </a:xfrm>
          <a:prstGeom prst="roundRect">
            <a:avLst>
              <a:gd name="adj" fmla="val 148709"/>
            </a:avLst>
          </a:prstGeom>
          <a:solidFill>
            <a:srgbClr val="0F172A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943350" y="4347210"/>
            <a:ext cx="409575" cy="28575"/>
          </a:xfrm>
          <a:prstGeom prst="rect">
            <a:avLst/>
          </a:prstGeom>
          <a:solidFill>
            <a:srgbClr val="EF444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37685" y="4309110"/>
            <a:ext cx="91440" cy="91440"/>
          </a:xfrm>
          <a:prstGeom prst="rect">
            <a:avLst/>
          </a:prstGeom>
          <a:noFill/>
          <a:ln w="4572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71925" y="4213860"/>
            <a:ext cx="678180" cy="184468"/>
          </a:xfrm>
          <a:prstGeom prst="roundRect">
            <a:avLst>
              <a:gd name="adj" fmla="val 148709"/>
            </a:avLst>
          </a:prstGeom>
          <a:solidFill>
            <a:srgbClr val="0F172A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reglas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3943350" y="3442335"/>
            <a:ext cx="409575" cy="28575"/>
          </a:xfrm>
          <a:prstGeom prst="rect">
            <a:avLst/>
          </a:prstGeom>
          <a:solidFill>
            <a:srgbClr val="22C55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67150" y="3417570"/>
            <a:ext cx="91440" cy="91440"/>
          </a:xfrm>
          <a:prstGeom prst="rect">
            <a:avLst/>
          </a:prstGeom>
          <a:noFill/>
          <a:ln w="4572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971925" y="3308985"/>
            <a:ext cx="865346" cy="184468"/>
          </a:xfrm>
          <a:prstGeom prst="roundRect">
            <a:avLst>
              <a:gd name="adj" fmla="val 148709"/>
            </a:avLst>
          </a:prstGeom>
          <a:solidFill>
            <a:srgbClr val="0F172A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devuelve hechos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676400" y="4347210"/>
            <a:ext cx="361950" cy="28575"/>
          </a:xfrm>
          <a:prstGeom prst="rect">
            <a:avLst/>
          </a:prstGeom>
          <a:solidFill>
            <a:srgbClr val="14B8A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600200" y="4322445"/>
            <a:ext cx="91440" cy="91440"/>
          </a:xfrm>
          <a:prstGeom prst="rect">
            <a:avLst/>
          </a:prstGeom>
          <a:noFill/>
          <a:ln w="4572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085975" y="4213860"/>
            <a:ext cx="604520" cy="184468"/>
          </a:xfrm>
          <a:prstGeom prst="roundRect">
            <a:avLst>
              <a:gd name="adj" fmla="val 148709"/>
            </a:avLst>
          </a:prstGeom>
          <a:solidFill>
            <a:srgbClr val="0F172A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mov.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173163" y="3688874"/>
            <a:ext cx="183197" cy="439420"/>
          </a:xfrm>
          <a:prstGeom prst="rect">
            <a:avLst/>
          </a:prstGeom>
          <a:solidFill>
            <a:srgbClr val="14B8A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11409" y="3608705"/>
            <a:ext cx="117158" cy="117158"/>
          </a:xfrm>
          <a:prstGeom prst="rect">
            <a:avLst/>
          </a:prstGeom>
          <a:noFill/>
          <a:ln w="4572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295400" y="3870960"/>
            <a:ext cx="799306" cy="184468"/>
          </a:xfrm>
          <a:prstGeom prst="roundRect">
            <a:avLst>
              <a:gd name="adj" fmla="val 148709"/>
            </a:avLst>
          </a:prstGeom>
          <a:solidFill>
            <a:srgbClr val="0F172A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3943350" y="3204210"/>
            <a:ext cx="409575" cy="57150"/>
          </a:xfrm>
          <a:prstGeom prst="rect">
            <a:avLst/>
          </a:prstGeom>
          <a:solidFill>
            <a:srgbClr val="EAB308"/>
          </a:solidFill>
          <a:ln w="28575">
            <a:solidFill>
              <a:srgbClr val="F1F5F9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309110" y="3194685"/>
            <a:ext cx="91440" cy="91440"/>
          </a:xfrm>
          <a:prstGeom prst="rect">
            <a:avLst/>
          </a:prstGeom>
          <a:noFill/>
          <a:ln w="45720">
            <a:solidFill>
              <a:srgbClr val="000000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971925" y="3070860"/>
            <a:ext cx="799147" cy="184468"/>
          </a:xfrm>
          <a:prstGeom prst="roundRect">
            <a:avLst>
              <a:gd name="adj" fmla="val 148709"/>
            </a:avLst>
          </a:prstGeom>
          <a:solidFill>
            <a:srgbClr val="0F172A"/>
          </a:solidFill>
          <a:ln/>
        </p:spPr>
        <p:txBody>
          <a:bodyPr wrap="square" lIns="60960" tIns="60960" rIns="60960" bIns="60960" rtlCol="0" anchor="t">
            <a:normAutofit/>
          </a:bodyPr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patrones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57225" y="4029075"/>
            <a:ext cx="152400" cy="152400"/>
          </a:xfrm>
          <a:prstGeom prst="roundRect">
            <a:avLst>
              <a:gd name="adj" fmla="val 3000000"/>
            </a:avLst>
          </a:prstGeom>
          <a:solidFill>
            <a:srgbClr val="38BDF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657225" y="4181475"/>
            <a:ext cx="152400" cy="152400"/>
          </a:xfrm>
          <a:prstGeom prst="roundRect">
            <a:avLst>
              <a:gd name="adj" fmla="val 3000000"/>
            </a:avLst>
          </a:prstGeom>
          <a:solidFill>
            <a:srgbClr val="A855F7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657225" y="4333875"/>
            <a:ext cx="152400" cy="152400"/>
          </a:xfrm>
          <a:prstGeom prst="roundRect">
            <a:avLst>
              <a:gd name="adj" fmla="val 3000000"/>
            </a:avLst>
          </a:prstGeom>
          <a:solidFill>
            <a:srgbClr val="EAB30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2990850" y="4029075"/>
            <a:ext cx="152400" cy="152400"/>
          </a:xfrm>
          <a:prstGeom prst="roundRect">
            <a:avLst>
              <a:gd name="adj" fmla="val 3000000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990850" y="4181475"/>
            <a:ext cx="152400" cy="152400"/>
          </a:xfrm>
          <a:prstGeom prst="roundRect">
            <a:avLst>
              <a:gd name="adj" fmla="val 3000000"/>
            </a:avLst>
          </a:prstGeom>
          <a:solidFill>
            <a:srgbClr val="22C55E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990850" y="4333875"/>
            <a:ext cx="152400" cy="152400"/>
          </a:xfrm>
          <a:prstGeom prst="roundRect">
            <a:avLst>
              <a:gd name="adj" fmla="val 300000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Experto en Ajedrez — Estructura y Dinámica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822179" y="2793206"/>
            <a:ext cx="1051217" cy="17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7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INTERFAZ</a:t>
            </a:r>
            <a:endParaRPr lang="en-US" sz="1140" dirty="0"/>
          </a:p>
        </p:txBody>
      </p:sp>
      <p:sp>
        <p:nvSpPr>
          <p:cNvPr id="48" name="Text 46"/>
          <p:cNvSpPr/>
          <p:nvPr/>
        </p:nvSpPr>
        <p:spPr>
          <a:xfrm>
            <a:off x="832485" y="3012599"/>
            <a:ext cx="1030605" cy="554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movimientos</a:t>
            </a:r>
            <a:endParaRPr lang="en-US" sz="840" dirty="0"/>
          </a:p>
          <a:p>
            <a:pPr algn="ctr" indent="0" marL="0">
              <a:lnSpc>
                <a:spcPts val="1093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recomendaciones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2594610" y="1749742"/>
            <a:ext cx="117348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7"/>
              </a:lnSpc>
              <a:buNone/>
            </a:pPr>
            <a:r>
              <a:rPr lang="en-US" sz="114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♟️ MÓDULO ENTRADA</a:t>
            </a:r>
            <a:endParaRPr lang="en-US" sz="1140" dirty="0"/>
          </a:p>
        </p:txBody>
      </p:sp>
      <p:sp>
        <p:nvSpPr>
          <p:cNvPr id="50" name="Text 48"/>
          <p:cNvSpPr/>
          <p:nvPr/>
        </p:nvSpPr>
        <p:spPr>
          <a:xfrm>
            <a:off x="2594610" y="2142807"/>
            <a:ext cx="1173480" cy="277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tablero (FEN)</a:t>
            </a:r>
            <a:endParaRPr lang="en-US" sz="840" dirty="0"/>
          </a:p>
          <a:p>
            <a:pPr algn="ctr" indent="0" marL="0">
              <a:lnSpc>
                <a:spcPts val="1093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Movimientos legales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2594610" y="2868930"/>
            <a:ext cx="117348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7"/>
              </a:lnSpc>
              <a:buNone/>
            </a:pPr>
            <a:r>
              <a:rPr lang="en-US" sz="114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MEMORIA TRABAJO</a:t>
            </a:r>
            <a:endParaRPr lang="en-US" sz="1140" dirty="0"/>
          </a:p>
        </p:txBody>
      </p:sp>
      <p:sp>
        <p:nvSpPr>
          <p:cNvPr id="52" name="Text 50"/>
          <p:cNvSpPr/>
          <p:nvPr/>
        </p:nvSpPr>
        <p:spPr>
          <a:xfrm>
            <a:off x="2594610" y="3261995"/>
            <a:ext cx="1173480" cy="277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actual</a:t>
            </a:r>
            <a:endParaRPr lang="en-US" sz="840" dirty="0"/>
          </a:p>
          <a:p>
            <a:pPr algn="ctr" indent="0" marL="0">
              <a:lnSpc>
                <a:spcPts val="1093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Hechos evaluados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2594610" y="3942556"/>
            <a:ext cx="1173480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7"/>
              </a:lnSpc>
              <a:buNone/>
            </a:pPr>
            <a:r>
              <a:rPr lang="en-US" sz="114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MOTOR INFERENCIA</a:t>
            </a:r>
            <a:endParaRPr lang="en-US" sz="1140" dirty="0"/>
          </a:p>
        </p:txBody>
      </p:sp>
      <p:sp>
        <p:nvSpPr>
          <p:cNvPr id="54" name="Text 52"/>
          <p:cNvSpPr/>
          <p:nvPr/>
        </p:nvSpPr>
        <p:spPr>
          <a:xfrm>
            <a:off x="2594610" y="4335621"/>
            <a:ext cx="117348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+ Alpha-Beta</a:t>
            </a:r>
            <a:endParaRPr lang="en-US" sz="840" dirty="0"/>
          </a:p>
          <a:p>
            <a:pPr algn="ctr" indent="0" marL="0">
              <a:lnSpc>
                <a:spcPts val="1093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Encadenamiento adelante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832485" y="4130993"/>
            <a:ext cx="1030605" cy="34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7"/>
              </a:lnSpc>
              <a:buNone/>
            </a:pPr>
            <a:r>
              <a:rPr lang="en-US" sz="114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EXPLICACIÓN</a:t>
            </a:r>
            <a:endParaRPr lang="en-US" sz="1140" dirty="0"/>
          </a:p>
        </p:txBody>
      </p:sp>
      <p:sp>
        <p:nvSpPr>
          <p:cNvPr id="56" name="Text 54"/>
          <p:cNvSpPr/>
          <p:nvPr/>
        </p:nvSpPr>
        <p:spPr>
          <a:xfrm>
            <a:off x="832485" y="4524058"/>
            <a:ext cx="1030605" cy="277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este mov?</a:t>
            </a:r>
            <a:endParaRPr lang="en-US" sz="840" dirty="0"/>
          </a:p>
          <a:p>
            <a:pPr algn="ctr" indent="0" marL="0">
              <a:lnSpc>
                <a:spcPts val="1093"/>
              </a:lnSpc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4516450" y="1744980"/>
            <a:ext cx="3140050" cy="1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3"/>
              </a:lnSpc>
              <a:buNone/>
            </a:pPr>
            <a:r>
              <a:rPr lang="en-US" sz="126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BASE DE CONOCIMIENTO</a:t>
            </a:r>
            <a:endParaRPr lang="en-US" sz="1260" dirty="0"/>
          </a:p>
        </p:txBody>
      </p:sp>
      <p:sp>
        <p:nvSpPr>
          <p:cNvPr id="58" name="Text 56"/>
          <p:cNvSpPr/>
          <p:nvPr/>
        </p:nvSpPr>
        <p:spPr>
          <a:xfrm>
            <a:off x="4609719" y="2150427"/>
            <a:ext cx="295351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♖ APERTURAS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609719" y="2310447"/>
            <a:ext cx="2953512" cy="138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Ruy López, Siciliana, Francesa...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4609719" y="2693035"/>
            <a:ext cx="295351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⚔️ TÁCTICAS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609719" y="2853055"/>
            <a:ext cx="2953512" cy="138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Horquilla, Clavada, Ataque doble...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4609719" y="3235643"/>
            <a:ext cx="295351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♛ ESTRATEGIA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609719" y="3395663"/>
            <a:ext cx="2953512" cy="138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del centro, peones...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4609719" y="3778250"/>
            <a:ext cx="295351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 FINALES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609719" y="3938270"/>
            <a:ext cx="2953512" cy="138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Rey y peón, torre vs rey...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4609719" y="4320857"/>
            <a:ext cx="295351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 REGLAS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609719" y="4480878"/>
            <a:ext cx="2953512" cy="138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3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posicional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657225" y="4029075"/>
            <a:ext cx="1292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introduce posición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657225" y="4181475"/>
            <a:ext cx="1292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traduce a formato FEN</a:t>
            </a:r>
            <a:endParaRPr lang="en-US" sz="720" dirty="0"/>
          </a:p>
        </p:txBody>
      </p:sp>
      <p:sp>
        <p:nvSpPr>
          <p:cNvPr id="70" name="Text 68"/>
          <p:cNvSpPr/>
          <p:nvPr/>
        </p:nvSpPr>
        <p:spPr>
          <a:xfrm>
            <a:off x="657225" y="4333875"/>
            <a:ext cx="12928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almacena en memoria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2990850" y="4029075"/>
            <a:ext cx="1482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aplica Minimax + α-β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2990850" y="4181475"/>
            <a:ext cx="1482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aporta reglas y patrones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2990850" y="4333875"/>
            <a:ext cx="1482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7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indent="0" marL="0">
              <a:lnSpc>
                <a:spcPts val="1080"/>
              </a:lnSpc>
              <a:buNone/>
            </a:pPr>
            <a:r>
              <a:rPr lang="en-US" sz="7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Explicación justifica mejor mov.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2026-03-16T17:14:02Z</dcterms:created>
  <dcterms:modified xsi:type="dcterms:W3CDTF">2026-03-16T17:14:02Z</dcterms:modified>
</cp:coreProperties>
</file>